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2" r:id="rId18"/>
    <p:sldId id="274" r:id="rId19"/>
    <p:sldId id="277" r:id="rId20"/>
    <p:sldId id="276" r:id="rId21"/>
    <p:sldId id="275" r:id="rId22"/>
    <p:sldId id="271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9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515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5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91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82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891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09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5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24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0" y="-388620"/>
            <a:ext cx="3200400" cy="3200400"/>
          </a:xfrm>
          <a:prstGeom prst="ellipse">
            <a:avLst/>
          </a:prstGeom>
          <a:solidFill>
            <a:srgbClr val="7B3FB8">
              <a:alpha val="18000"/>
            </a:srgbClr>
          </a:solidFill>
          <a:ln w="12700">
            <a:solidFill>
              <a:srgbClr val="7B3FB8">
                <a:alpha val="1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48640"/>
            <a:ext cx="1828800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39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EMPOWERMENT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Empowerment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24231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Rural Villages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A7BB5"/>
                </a:solidFill>
              </a:rPr>
              <a:t>Transforming communities through education,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A7BB5"/>
                </a:solidFill>
              </a:rPr>
              <a:t>economic inclusion &amp; social justice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 Global Development Initiative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8D618-D6D3-437C-8A05-BE393CD023BF}"/>
              </a:ext>
            </a:extLst>
          </p:cNvPr>
          <p:cNvSpPr txBox="1"/>
          <p:nvPr/>
        </p:nvSpPr>
        <p:spPr>
          <a:xfrm>
            <a:off x="6167120" y="3969603"/>
            <a:ext cx="3434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Presented By : </a:t>
            </a:r>
            <a:r>
              <a:rPr lang="en-GB" sz="1600" dirty="0" err="1">
                <a:solidFill>
                  <a:schemeClr val="bg1">
                    <a:lumMod val="75000"/>
                  </a:schemeClr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Kirpashini</a:t>
            </a:r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T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                          </a:t>
            </a:r>
            <a:r>
              <a:rPr lang="en-GB" sz="1600" dirty="0" err="1">
                <a:solidFill>
                  <a:schemeClr val="bg1">
                    <a:lumMod val="75000"/>
                  </a:schemeClr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Kiruthika</a:t>
            </a:r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A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                          Bharathi S </a:t>
            </a:r>
            <a:endParaRPr lang="en-IN" sz="1600" dirty="0">
              <a:solidFill>
                <a:schemeClr val="bg1">
                  <a:lumMod val="75000"/>
                </a:schemeClr>
              </a:solidFill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Rural Women's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Empowerment Matters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65960"/>
            <a:ext cx="329184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196596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A1A40"/>
                </a:solidFill>
              </a:rPr>
              <a:t>Rural women make up nearly 43% of the agricultural workforce globally, yet face persistent barriers to equality.</a:t>
            </a:r>
            <a:endParaRPr lang="en-US" sz="1300" dirty="0"/>
          </a:p>
          <a:p>
            <a:pPr marL="0" indent="0">
              <a:lnSpc>
                <a:spcPct val="14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A1A40"/>
                </a:solidFill>
              </a:rPr>
              <a:t>Empowering rural women is not just a moral imperative — it is a proven catalyst for reducing poverty, improving nutrition, and driving sustainable development.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A1A40"/>
                </a:solidFill>
              </a:rPr>
              <a:t>When women thrive, entire communities transform — educating children, building resilient households, and creating lasting change.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4663440"/>
            <a:ext cx="2606040" cy="338328"/>
          </a:xfrm>
          <a:prstGeom prst="rect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5B2D8E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66344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D8E"/>
                </a:solidFill>
              </a:rPr>
              <a:t>43%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34440" y="466344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of ag workforce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4663440"/>
            <a:ext cx="2606040" cy="338328"/>
          </a:xfrm>
          <a:prstGeom prst="rect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5B2D8E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466344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D8E"/>
                </a:solidFill>
              </a:rPr>
              <a:t>2×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069080" y="466344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faster poverty reduction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4663440"/>
            <a:ext cx="2606040" cy="338328"/>
          </a:xfrm>
          <a:prstGeom prst="rect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5B2D8E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466344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2D8E"/>
                </a:solidFill>
              </a:rPr>
              <a:t>1.5B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03720" y="466344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</a:rPr>
              <a:t>rural women worldwide</a:t>
            </a:r>
            <a:endParaRPr lang="en-US" sz="105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53853EBB-D1F7-4B28-B3FB-B55AAC34D0BD}"/>
              </a:ext>
            </a:extLst>
          </p:cNvPr>
          <p:cNvSpPr/>
          <p:nvPr/>
        </p:nvSpPr>
        <p:spPr>
          <a:xfrm>
            <a:off x="914400" y="3457903"/>
            <a:ext cx="147145" cy="708804"/>
          </a:xfrm>
          <a:prstGeom prst="rect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5B2D8E">
                <a:alpha val="20000"/>
              </a:srgbClr>
            </a:solidFill>
            <a:prstDash val="solid"/>
          </a:ln>
        </p:spPr>
      </p:sp>
      <p:pic>
        <p:nvPicPr>
          <p:cNvPr id="19" name="Picture 2" descr="Empowering Rural Development through ...">
            <a:extLst>
              <a:ext uri="{FF2B5EF4-FFF2-40B4-BE49-F238E27FC236}">
                <a16:creationId xmlns:a16="http://schemas.microsoft.com/office/drawing/2014/main" id="{8B8F5D53-E2C4-4C73-9E5C-E817A39A4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12" y="2388073"/>
            <a:ext cx="2672809" cy="177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Barriers Faced by Rural Women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691640"/>
            <a:ext cx="411480" cy="41148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373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709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2E"/>
                </a:solidFill>
              </a:rPr>
              <a:t>Limited Education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20370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7BB5"/>
                </a:solidFill>
              </a:rPr>
              <a:t>Girls drop out early due to poverty, early marriage, and distance to schools.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691640"/>
            <a:ext cx="411480" cy="411480"/>
          </a:xfrm>
          <a:prstGeom prst="ellipse">
            <a:avLst/>
          </a:prstGeom>
          <a:solidFill>
            <a:srgbClr val="7B3FB8"/>
          </a:solidFill>
          <a:ln w="12700">
            <a:solidFill>
              <a:srgbClr val="7B3FB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7373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709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2E"/>
                </a:solidFill>
              </a:rPr>
              <a:t>Legal Inequality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337560" y="220370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7BB5"/>
                </a:solidFill>
              </a:rPr>
              <a:t>Lack of property rights and limited access to formal justice systems.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1600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53912" y="1691640"/>
            <a:ext cx="411480" cy="41148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7373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709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2E"/>
                </a:solidFill>
              </a:rPr>
              <a:t>Poor Healthcare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72200" y="220370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7BB5"/>
                </a:solidFill>
              </a:rPr>
              <a:t>High maternal mortality, malnutrition, and lack of reproductive health services.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3154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" y="3246120"/>
            <a:ext cx="411480" cy="411480"/>
          </a:xfrm>
          <a:prstGeom prst="ellipse">
            <a:avLst/>
          </a:prstGeom>
          <a:solidFill>
            <a:srgbClr val="7B3FB8"/>
          </a:solidFill>
          <a:ln w="12700">
            <a:solidFill>
              <a:srgbClr val="7B3FB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918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2E"/>
                </a:solidFill>
              </a:rPr>
              <a:t>Economic Exclusion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375818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7BB5"/>
                </a:solidFill>
              </a:rPr>
              <a:t>Denied credit, banking, and formal employment opportunities.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0" y="3154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19272" y="3246120"/>
            <a:ext cx="411480" cy="41148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2918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2E"/>
                </a:solidFill>
              </a:rPr>
              <a:t>Social Norms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337560" y="375818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7BB5"/>
                </a:solidFill>
              </a:rPr>
              <a:t>Patriarchal customs restrict mobility, decision-making, and public participation.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3154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53912" y="3246120"/>
            <a:ext cx="411480" cy="411480"/>
          </a:xfrm>
          <a:prstGeom prst="ellipse">
            <a:avLst/>
          </a:prstGeom>
          <a:solidFill>
            <a:srgbClr val="7B3FB8"/>
          </a:solidFill>
          <a:ln w="12700">
            <a:solidFill>
              <a:srgbClr val="7B3FB8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2918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0A2E"/>
                </a:solidFill>
              </a:rPr>
              <a:t>Environmental Burden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172200" y="375818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7BB5"/>
                </a:solidFill>
              </a:rPr>
              <a:t>Women bear the greatest cost of climate change in rural livelihoods.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3FB8"/>
          </a:solidFill>
          <a:ln w="12700">
            <a:solidFill>
              <a:srgbClr val="7B3F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PILLAR 1: EDUCATION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822960"/>
            <a:ext cx="35661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686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as the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of Change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Girls with secondary education earn up to 25% more in adulthood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Educated mothers are 50% more likely to immunize their children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Community literacy programs reduce early marriage rates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Digital skills training opens remote work opportunities for rural women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Scholarships &amp; mid-day meals keep girls enrolled in school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4645152"/>
            <a:ext cx="4663440" cy="347472"/>
          </a:xfrm>
          <a:prstGeom prst="rect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6360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2D8E"/>
                </a:solidFill>
              </a:rPr>
              <a:t>"Education is the most powerful tool for rural women's liberation."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8C9A7D-A3B7-43F3-8461-762DE3112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890" y="1345324"/>
            <a:ext cx="4519448" cy="3114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663440" y="0"/>
            <a:ext cx="73152" cy="5143500"/>
          </a:xfrm>
          <a:prstGeom prst="rect">
            <a:avLst/>
          </a:prstGeom>
          <a:solidFill>
            <a:srgbClr val="C9A9E8"/>
          </a:solidFill>
          <a:ln w="12700">
            <a:solidFill>
              <a:srgbClr val="C9A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5B2D8E">
              <a:alpha val="22000"/>
            </a:srgbClr>
          </a:solidFill>
          <a:ln w="12700">
            <a:solidFill>
              <a:srgbClr val="5B2D8E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384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9E8"/>
                </a:solidFill>
              </a:rPr>
              <a:t>PILLAR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46320" y="713232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Empowerment</a:t>
            </a:r>
            <a:endParaRPr lang="en-US" sz="3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945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2148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E8"/>
                </a:solidFill>
              </a:rPr>
              <a:t>Microfinance &amp; SHGs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49240" y="2487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ADD"/>
                </a:solidFill>
              </a:rPr>
              <a:t>Self-Help Groups give rural women access to credit and savings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10896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E8"/>
                </a:solidFill>
              </a:rPr>
              <a:t>Entrepreneurship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49240" y="3401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ADD"/>
                </a:solidFill>
              </a:rPr>
              <a:t>Handicrafts, agri-business, and digital marketplaces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2336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49240" y="3977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E8"/>
                </a:solidFill>
              </a:rPr>
              <a:t>Fair Wages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349240" y="4315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ADD"/>
                </a:solidFill>
              </a:rPr>
              <a:t>Closing the rural gender wage gap through policy reform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663440" y="4846320"/>
            <a:ext cx="4480560" cy="292608"/>
          </a:xfrm>
          <a:prstGeom prst="rect">
            <a:avLst/>
          </a:prstGeom>
          <a:solidFill>
            <a:srgbClr val="5B2D8E">
              <a:alpha val="30000"/>
            </a:srgbClr>
          </a:solidFill>
          <a:ln w="12700">
            <a:solidFill>
              <a:srgbClr val="5B2D8E">
                <a:alpha val="3000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54880" y="4846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9A9E8"/>
                </a:solidFill>
              </a:rPr>
              <a:t>Every $1 invested in rural women yields $7 in community growth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1EA711-747F-490E-8A58-1E738A3278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60" y="382333"/>
            <a:ext cx="3606800" cy="4345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PILLAR 3: HEALTH &amp; WELL-BEING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Healthy Women,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Healthy Villages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246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777240"/>
            <a:ext cx="3246120" cy="4160520"/>
          </a:xfrm>
          <a:prstGeom prst="rect">
            <a:avLst/>
          </a:prstGeom>
          <a:solidFill>
            <a:srgbClr val="7B3FB8">
              <a:alpha val="25000"/>
            </a:srgbClr>
          </a:solidFill>
          <a:ln w="12700">
            <a:solidFill>
              <a:srgbClr val="7B3FB8">
                <a:alpha val="2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201168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011680"/>
            <a:ext cx="64008" cy="8046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2D8E"/>
                </a:solidFill>
              </a:rPr>
              <a:t>295,000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4140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Women die annually from preventable childbirth complications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97180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971800"/>
            <a:ext cx="64008" cy="8046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2D8E"/>
                </a:solidFill>
              </a:rPr>
              <a:t>60%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33741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Reduction in maternal mortality with trained midwives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93192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931920"/>
            <a:ext cx="64008" cy="8046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2D8E"/>
                </a:solidFill>
              </a:rPr>
              <a:t>800M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" y="43342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2E"/>
                </a:solidFill>
              </a:rPr>
              <a:t>Women lack access to basic sanitation in rural areas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BBEEBC-1E17-4842-8851-540EF590A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215707"/>
            <a:ext cx="2834640" cy="3283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PILLAR 4: POLITICAL VOICE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3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Rural Women as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 &amp; Decision-Makers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37360"/>
            <a:ext cx="38404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737360"/>
            <a:ext cx="3840480" cy="3383280"/>
          </a:xfrm>
          <a:prstGeom prst="rect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92024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Women in local governance lead to better spending on schools, water, and healthcare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Panchayat reservations in India gave 1.3 million women elected positions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Female leaders are more likely to address gender-based violence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A40"/>
                </a:solidFill>
              </a:rPr>
              <a:t>Women's collectives serve as powerful platforms for civic engagement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504A14-50DB-4DB8-9E74-C42E20317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690" y="2057400"/>
            <a:ext cx="2857500" cy="2677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3FB8"/>
          </a:solidFill>
          <a:ln w="12700">
            <a:solidFill>
              <a:srgbClr val="7B3F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SUCCESS MODEL: SELF-HELP GROUPS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Power of Women's Collectives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00200"/>
            <a:ext cx="347472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600200"/>
            <a:ext cx="3474720" cy="3246120"/>
          </a:xfrm>
          <a:prstGeom prst="rect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0" y="1600200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0" y="1600200"/>
            <a:ext cx="64008" cy="7132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0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Microfinance Access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0" y="1965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7BB5"/>
                </a:solidFill>
              </a:rPr>
              <a:t>Small, low-interest loans for business and household needs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0" y="2404872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2404872"/>
            <a:ext cx="64008" cy="7132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Skill Development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97680" y="2770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7BB5"/>
                </a:solidFill>
              </a:rPr>
              <a:t>Workshops on farming, crafts, digital literacy, and health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14800" y="3209544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0" y="3209544"/>
            <a:ext cx="64008" cy="7132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0" y="3273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Collective Bargaining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297680" y="3575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7BB5"/>
                </a:solidFill>
              </a:rPr>
              <a:t>United voice for fair wages and market access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114800" y="4014216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0" y="4014216"/>
            <a:ext cx="64008" cy="7132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40782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</a:rPr>
              <a:t>Social Safety Net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297680" y="43799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7BB5"/>
                </a:solidFill>
              </a:rPr>
              <a:t>Peer support for domestic violence and mental health</a:t>
            </a:r>
            <a:endParaRPr lang="en-US" sz="1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9F48D47-38F7-41E9-B826-E2E74003B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1801368"/>
            <a:ext cx="2857500" cy="2760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TECHNOLOGY &amp; INNOVATION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5B2D8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7B3FB8">
              <a:alpha val="18000"/>
            </a:srgbClr>
          </a:solidFill>
          <a:ln w="12700">
            <a:solidFill>
              <a:srgbClr val="7B3FB8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Tools Bridging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Rural Divide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1234440"/>
          </a:xfrm>
          <a:prstGeom prst="rect">
            <a:avLst/>
          </a:prstGeom>
          <a:solidFill>
            <a:srgbClr val="1A0A2E"/>
          </a:solidFill>
          <a:ln w="12700">
            <a:solidFill>
              <a:srgbClr val="5B2D8E">
                <a:alpha val="3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21408"/>
            <a:ext cx="457200" cy="4572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4884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2084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E8"/>
                </a:solidFill>
              </a:rPr>
              <a:t>Mobile Banking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24871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AADD"/>
                </a:solidFill>
              </a:rPr>
              <a:t>M-Pesa and similar platforms give rural women financial independence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2011680"/>
            <a:ext cx="4114800" cy="1234440"/>
          </a:xfrm>
          <a:prstGeom prst="rect">
            <a:avLst/>
          </a:prstGeom>
          <a:solidFill>
            <a:srgbClr val="1A0A2E"/>
          </a:solidFill>
          <a:ln w="12700">
            <a:solidFill>
              <a:srgbClr val="5B2D8E">
                <a:alpha val="3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83480" y="2121408"/>
            <a:ext cx="457200" cy="4572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14884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2084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E8"/>
                </a:solidFill>
              </a:rPr>
              <a:t>E-Learning Platforms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96128" y="24871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AADD"/>
                </a:solidFill>
              </a:rPr>
              <a:t>Online courses reach women in remote villages with no schools nearby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429000"/>
            <a:ext cx="4114800" cy="1234440"/>
          </a:xfrm>
          <a:prstGeom prst="rect">
            <a:avLst/>
          </a:prstGeom>
          <a:solidFill>
            <a:srgbClr val="1A0A2E"/>
          </a:solidFill>
          <a:ln w="12700">
            <a:solidFill>
              <a:srgbClr val="5B2D8E">
                <a:alpha val="3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538728"/>
            <a:ext cx="457200" cy="4572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56616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3502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E8"/>
                </a:solidFill>
              </a:rPr>
              <a:t>AgriTech Apps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15568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AADD"/>
                </a:solidFill>
              </a:rPr>
              <a:t>Crop pricing, weather data, and market access via smartphones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3429000"/>
            <a:ext cx="4114800" cy="1234440"/>
          </a:xfrm>
          <a:prstGeom prst="rect">
            <a:avLst/>
          </a:prstGeom>
          <a:solidFill>
            <a:srgbClr val="1A0A2E"/>
          </a:solidFill>
          <a:ln w="12700">
            <a:solidFill>
              <a:srgbClr val="5B2D8E">
                <a:alpha val="3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83480" y="3538728"/>
            <a:ext cx="457200" cy="4572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56616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96128" y="3502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E8"/>
                </a:solidFill>
              </a:rPr>
              <a:t>Telemedicine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96128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AADD"/>
                </a:solidFill>
              </a:rPr>
              <a:t>Virtual health consultations reduce barriers to maternal care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GLOBAL CASE STUDIES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Successes from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Around the Globe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38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64008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</a:rPr>
              <a:t>🇮🇳 India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4942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2D8E"/>
                </a:solidFill>
              </a:rPr>
              <a:t>SEWA Movement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03911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2E"/>
                </a:solidFill>
              </a:rPr>
              <a:t>2.5M women in cooperative; 40% income increase for members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791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38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79192"/>
            <a:ext cx="64008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24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</a:rPr>
              <a:t>🇧🇩 Bangladesh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0837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2D8E"/>
                </a:solidFill>
              </a:rPr>
              <a:t>BRAC Programs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79806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2E"/>
                </a:solidFill>
              </a:rPr>
              <a:t>Lifted 8M women out of extreme poverty through microfinance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3814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38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38144"/>
            <a:ext cx="64008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83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</a:rPr>
              <a:t>🇰🇪 Kenya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767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2D8E"/>
                </a:solidFill>
              </a:rPr>
              <a:t>M-Pesa Banking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55701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2E"/>
                </a:solidFill>
              </a:rPr>
              <a:t>2M rural women escaped poverty via mobile money access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970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38000"/>
              </a:srgbClr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97096"/>
            <a:ext cx="64008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42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</a:rPr>
              <a:t>🇷🇼 Rwanda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2D8E"/>
                </a:solidFill>
              </a:rPr>
              <a:t>Political Quotas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43159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2E"/>
                </a:solidFill>
              </a:rPr>
              <a:t>64% female parliament; led to stronger health &amp; education budgets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BY 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of Empowering Rural Women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06040" cy="1417320"/>
          </a:xfrm>
          <a:prstGeom prst="rect">
            <a:avLst/>
          </a:prstGeom>
          <a:solidFill>
            <a:srgbClr val="2D1B4E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733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9E8"/>
                </a:solidFill>
              </a:rPr>
              <a:t>12%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3500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Increase in crop yields when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women have equal access to resources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1417320"/>
          </a:xfrm>
          <a:prstGeom prst="rect">
            <a:avLst/>
          </a:prstGeom>
          <a:solidFill>
            <a:srgbClr val="2D1B4E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6733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9E8"/>
                </a:solidFill>
              </a:rPr>
              <a:t>25%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37560" y="23500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More children survive to age 5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with educated mothers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606040" cy="1417320"/>
          </a:xfrm>
          <a:prstGeom prst="rect">
            <a:avLst/>
          </a:prstGeom>
          <a:solidFill>
            <a:srgbClr val="2D1B4E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6733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9E8"/>
                </a:solidFill>
              </a:rPr>
              <a:t>$360B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72200" y="23500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Unlocked GDP potential by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closing rural gender gaps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2606040" cy="1417320"/>
          </a:xfrm>
          <a:prstGeom prst="rect">
            <a:avLst/>
          </a:prstGeom>
          <a:solidFill>
            <a:srgbClr val="2D1B4E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2735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9E8"/>
                </a:solidFill>
              </a:rPr>
              <a:t>50%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Reduction in domestic violence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in communities with women's groups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200400"/>
            <a:ext cx="2606040" cy="1417320"/>
          </a:xfrm>
          <a:prstGeom prst="rect">
            <a:avLst/>
          </a:prstGeom>
          <a:solidFill>
            <a:srgbClr val="2D1B4E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32735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9E8"/>
                </a:solidFill>
              </a:rPr>
              <a:t>3×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337560" y="3950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More likely to reinvest earnings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in families compared to men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200400"/>
            <a:ext cx="2606040" cy="1417320"/>
          </a:xfrm>
          <a:prstGeom prst="rect">
            <a:avLst/>
          </a:prstGeom>
          <a:solidFill>
            <a:srgbClr val="2D1B4E"/>
          </a:solidFill>
          <a:ln w="12700">
            <a:solidFill>
              <a:srgbClr val="5B2D8E">
                <a:alpha val="4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2735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9E8"/>
                </a:solidFill>
              </a:rPr>
              <a:t>70%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172200" y="3950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Of the world's poor are women —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BAADD"/>
                </a:solidFill>
              </a:rPr>
              <a:t>most in rural areas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3FB8"/>
          </a:solidFill>
          <a:ln w="12700">
            <a:solidFill>
              <a:srgbClr val="7B3F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STAKEHOLDERS &amp;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Drives Change?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06040" cy="4572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Gender-responsive budgeting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Land &amp; property rights reforms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Female-quota policies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Subsidized education for girls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B8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00200"/>
            <a:ext cx="2606040" cy="457200"/>
          </a:xfrm>
          <a:prstGeom prst="rect">
            <a:avLst/>
          </a:prstGeom>
          <a:solidFill>
            <a:srgbClr val="7B3FB8"/>
          </a:solidFill>
          <a:ln w="12700">
            <a:solidFill>
              <a:srgbClr val="7B3F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NGOs &amp; Civil Society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Grassroots organizing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Legal aid and advocacy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Vocational training centers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Domestic violence shelters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1B4E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00200"/>
            <a:ext cx="2606040" cy="4572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Private Sector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19456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Women-focused microfinance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Fair trade sourcing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AgriTech for rural women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</a:rPr>
              <a:t>Corporate mentorship programs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COMMUNITY VOICES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 of Transformation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54480"/>
            <a:ext cx="29260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554480"/>
            <a:ext cx="2926080" cy="3474720"/>
          </a:xfrm>
          <a:prstGeom prst="rect">
            <a:avLst/>
          </a:prstGeom>
          <a:solidFill>
            <a:srgbClr val="7B3FB8">
              <a:alpha val="25000"/>
            </a:srgbClr>
          </a:solidFill>
          <a:ln w="12700">
            <a:solidFill>
              <a:srgbClr val="7B3FB8">
                <a:alpha val="2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6002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2000"/>
              </a:srgbClr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600200"/>
            <a:ext cx="64008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0A2E"/>
                </a:solidFill>
              </a:rPr>
              <a:t>"After joining the self-help group, I started my own tailoring business. My children are now in school and I have a voice in village meetings."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31343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D8E"/>
                </a:solidFill>
              </a:rPr>
              <a:t>— Savitha, 34 — Karnataka, India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715768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2000"/>
              </a:srgbClr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715768"/>
            <a:ext cx="64008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761488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0A2E"/>
                </a:solidFill>
              </a:rPr>
              <a:t>"The mobile banking app changed everything. I no longer have to walk 8 km to the bank or depend on my husband for money."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4290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D8E"/>
                </a:solidFill>
              </a:rPr>
              <a:t>— Amara, 28 — Nakuru, Kenya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831336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>
                <a:alpha val="42000"/>
              </a:srgbClr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831336"/>
            <a:ext cx="64008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877056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0A2E"/>
                </a:solidFill>
              </a:rPr>
              <a:t>"Our women's group helped me escape an abusive marriage. They gave me legal help, shelter, and taught me to read at age 40."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54456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D8E"/>
                </a:solidFill>
              </a:rPr>
              <a:t>— Rina, 42 — Sylhet, Bangladesh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CALL TO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Do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Help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2461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777240"/>
            <a:ext cx="3246120" cy="4160520"/>
          </a:xfrm>
          <a:prstGeom prst="rect">
            <a:avLst/>
          </a:prstGeom>
          <a:solidFill>
            <a:srgbClr val="7B3FB8">
              <a:alpha val="28000"/>
            </a:srgbClr>
          </a:solidFill>
          <a:ln w="12700">
            <a:solidFill>
              <a:srgbClr val="7B3FB8">
                <a:alpha val="2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965960"/>
            <a:ext cx="438912" cy="4389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2002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</a:rPr>
              <a:t>Donate to women's SHGs and microfinance organisations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578608"/>
            <a:ext cx="438912" cy="4389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26151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</a:rPr>
              <a:t>Advocate for gender-responsive rural development policies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" y="3191256"/>
            <a:ext cx="438912" cy="4389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3227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</a:rPr>
              <a:t>Support girls' education through scholarships and mentoring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5760" y="3803904"/>
            <a:ext cx="438912" cy="4389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</a:rPr>
              <a:t>Buy from women-led rural cooperatives and fair trade products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4416552"/>
            <a:ext cx="438912" cy="4389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4453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</a:rPr>
              <a:t>Amplify rural women's voices in media, research, and policy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234440" y="-1560195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351280"/>
            <a:ext cx="4114800" cy="46101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1A3813-EFDB-4CB1-BB5E-D05BBDBF5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80" y="1280160"/>
            <a:ext cx="7122160" cy="33426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247EC4-9046-4AAA-BF95-214D57DF3CDF}"/>
              </a:ext>
            </a:extLst>
          </p:cNvPr>
          <p:cNvSpPr txBox="1"/>
          <p:nvPr/>
        </p:nvSpPr>
        <p:spPr>
          <a:xfrm>
            <a:off x="457200" y="335132"/>
            <a:ext cx="3027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  <a:ea typeface="Artifakt Element Heavy" panose="020B0B03050000020004" pitchFamily="34" charset="0"/>
              </a:rPr>
              <a:t>- OUR WEBSITE DASHBOARD</a:t>
            </a:r>
            <a:endParaRPr lang="en-IN" b="1" i="1" dirty="0">
              <a:solidFill>
                <a:schemeClr val="bg2">
                  <a:lumMod val="90000"/>
                </a:schemeClr>
              </a:solidFill>
              <a:latin typeface="Arial Rounded MT Bold" panose="020F0704030504030204" pitchFamily="34" charset="0"/>
              <a:ea typeface="Artifakt Element Heavy" panose="020B0B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537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E2A384-86ED-4F03-B786-CDAC9D871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30014"/>
            <a:ext cx="8292662" cy="36583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9E1538-37F9-43C1-894D-01A011C7D0B5}"/>
              </a:ext>
            </a:extLst>
          </p:cNvPr>
          <p:cNvSpPr txBox="1"/>
          <p:nvPr/>
        </p:nvSpPr>
        <p:spPr>
          <a:xfrm>
            <a:off x="388883" y="195088"/>
            <a:ext cx="326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- OUR WEBSITE CAMPAIGNS</a:t>
            </a:r>
            <a:endParaRPr lang="en-IN" b="1" i="1" dirty="0">
              <a:solidFill>
                <a:schemeClr val="bg2">
                  <a:lumMod val="9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FCD2F8-F974-4B53-9C70-0B50DD5AB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72" y="315310"/>
            <a:ext cx="8471338" cy="43831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7362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635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234440" y="-1560195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351280"/>
            <a:ext cx="4114800" cy="46101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416170-F954-4D6D-B82F-D48B758D1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0" y="985520"/>
            <a:ext cx="8361680" cy="37280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4E9556-F678-4E5A-919C-9A09A8CE35B7}"/>
              </a:ext>
            </a:extLst>
          </p:cNvPr>
          <p:cNvSpPr txBox="1"/>
          <p:nvPr/>
        </p:nvSpPr>
        <p:spPr>
          <a:xfrm>
            <a:off x="391160" y="242927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- NEW COMPAIGN</a:t>
            </a:r>
            <a:endParaRPr lang="en-IN" b="1" i="1" dirty="0">
              <a:solidFill>
                <a:schemeClr val="bg2">
                  <a:lumMod val="9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41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4048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234440" y="-1560195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351280"/>
            <a:ext cx="4114800" cy="46101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96B00D-8A67-41D4-98BA-0EFC2824D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20" y="939562"/>
            <a:ext cx="8778240" cy="37657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70FB587-8923-45EC-B223-9B84369E989E}"/>
              </a:ext>
            </a:extLst>
          </p:cNvPr>
          <p:cNvSpPr txBox="1"/>
          <p:nvPr/>
        </p:nvSpPr>
        <p:spPr>
          <a:xfrm>
            <a:off x="220980" y="285115"/>
            <a:ext cx="376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- GOVERNANCE</a:t>
            </a:r>
            <a:endParaRPr lang="en-IN" b="1" i="1" dirty="0">
              <a:solidFill>
                <a:schemeClr val="bg2">
                  <a:lumMod val="9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294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635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234440" y="-1560195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351280"/>
            <a:ext cx="4114800" cy="46101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416170-F954-4D6D-B82F-D48B758D1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0" y="985520"/>
            <a:ext cx="8361680" cy="37280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4E9556-F678-4E5A-919C-9A09A8CE35B7}"/>
              </a:ext>
            </a:extLst>
          </p:cNvPr>
          <p:cNvSpPr txBox="1"/>
          <p:nvPr/>
        </p:nvSpPr>
        <p:spPr>
          <a:xfrm>
            <a:off x="579120" y="201851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NEW COMPAIGN</a:t>
            </a:r>
            <a:endParaRPr lang="en-IN" b="1" i="1" dirty="0">
              <a:solidFill>
                <a:schemeClr val="bg2">
                  <a:lumMod val="9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01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635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234440" y="-1560195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351280"/>
            <a:ext cx="4114800" cy="46101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416170-F954-4D6D-B82F-D48B758D1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0" y="985520"/>
            <a:ext cx="8361680" cy="37280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4E9556-F678-4E5A-919C-9A09A8CE35B7}"/>
              </a:ext>
            </a:extLst>
          </p:cNvPr>
          <p:cNvSpPr txBox="1"/>
          <p:nvPr/>
        </p:nvSpPr>
        <p:spPr>
          <a:xfrm>
            <a:off x="579120" y="201851"/>
            <a:ext cx="5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NEW COMPAIGN</a:t>
            </a:r>
            <a:endParaRPr lang="en-IN" b="1" i="1" dirty="0">
              <a:solidFill>
                <a:schemeClr val="bg2">
                  <a:lumMod val="9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594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>
              <a:alpha val="70000"/>
            </a:srgbClr>
          </a:solidFill>
          <a:ln w="12700">
            <a:solidFill>
              <a:srgbClr val="1A0A2E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7B3FB8">
              <a:alpha val="22000"/>
            </a:srgbClr>
          </a:solidFill>
          <a:ln w="12700">
            <a:solidFill>
              <a:srgbClr val="7B3FB8">
                <a:alpha val="2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0" y="641131"/>
            <a:ext cx="6400800" cy="3668110"/>
          </a:xfrm>
          <a:prstGeom prst="rect">
            <a:avLst/>
          </a:prstGeom>
          <a:solidFill>
            <a:srgbClr val="1A0A2E">
              <a:alpha val="75000"/>
            </a:srgbClr>
          </a:solidFill>
          <a:ln w="12700">
            <a:solidFill>
              <a:srgbClr val="5B2D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2"/>
              </a:solidFill>
            </a:endParaRPr>
          </a:p>
          <a:p>
            <a:r>
              <a:rPr lang="en-GB" dirty="0">
                <a:solidFill>
                  <a:schemeClr val="bg2"/>
                </a:solidFill>
              </a:rPr>
              <a:t>            		</a:t>
            </a:r>
            <a:r>
              <a:rPr lang="en-GB" b="1" dirty="0">
                <a:solidFill>
                  <a:schemeClr val="accent6"/>
                </a:solidFill>
              </a:rPr>
              <a:t>THANK YOU!! </a:t>
            </a:r>
          </a:p>
          <a:p>
            <a:pPr algn="ctr"/>
            <a:endParaRPr lang="en-GB" dirty="0">
              <a:solidFill>
                <a:schemeClr val="bg2"/>
              </a:solidFill>
            </a:endParaRPr>
          </a:p>
          <a:p>
            <a:endParaRPr lang="en-US" sz="1800" b="1" dirty="0">
              <a:solidFill>
                <a:srgbClr val="000000"/>
              </a:solidFill>
              <a:latin typeface="Syne Bold" pitchFamily="34" charset="0"/>
              <a:ea typeface="Syne Bold" pitchFamily="34" charset="-122"/>
              <a:cs typeface="Syne Bold" pitchFamily="34" charset="-120"/>
            </a:endParaRPr>
          </a:p>
          <a:p>
            <a:r>
              <a:rPr lang="en-US" sz="18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         🌺</a:t>
            </a: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</a:t>
            </a:r>
            <a:r>
              <a:rPr lang="en-US" sz="1800" b="1" dirty="0">
                <a:solidFill>
                  <a:srgbClr val="7C3AED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Happy International Women's Day!</a:t>
            </a: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😊🌸</a:t>
            </a:r>
            <a:endParaRPr lang="en-US" sz="1800" dirty="0"/>
          </a:p>
          <a:p>
            <a:endParaRPr lang="en-GB" dirty="0">
              <a:solidFill>
                <a:schemeClr val="bg2"/>
              </a:solidFill>
            </a:endParaRPr>
          </a:p>
          <a:p>
            <a:endParaRPr lang="en-GB" dirty="0">
              <a:solidFill>
                <a:schemeClr val="bg2"/>
              </a:solidFill>
            </a:endParaRPr>
          </a:p>
          <a:p>
            <a:r>
              <a:rPr lang="en-GB" dirty="0">
                <a:solidFill>
                  <a:schemeClr val="bg2"/>
                </a:solidFill>
              </a:rPr>
              <a:t>           </a:t>
            </a:r>
            <a:r>
              <a:rPr lang="en-GB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Gabriola" panose="04040605051002020D02" pitchFamily="82" charset="0"/>
              </a:rPr>
              <a:t>"Think like a queen. A queen is not afraid to fail"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45920" y="12801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236601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2D8E">
              <a:alpha val="80000"/>
            </a:srgbClr>
          </a:solidFill>
          <a:ln w="12700">
            <a:solidFill>
              <a:srgbClr val="5B2D8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E8"/>
                </a:solidFill>
              </a:rPr>
              <a:t>United Nations SDG 5: Gender Equality  |  SDG 1: No Poverty  |  SDG 2: Zero Hunger</a:t>
            </a:r>
            <a:endParaRPr lang="en-US" sz="9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899D941-B80F-45CF-A7CA-3D6080F11B8A}"/>
              </a:ext>
            </a:extLst>
          </p:cNvPr>
          <p:cNvSpPr/>
          <p:nvPr/>
        </p:nvSpPr>
        <p:spPr>
          <a:xfrm>
            <a:off x="1645920" y="2313196"/>
            <a:ext cx="5669280" cy="571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4177684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1116</Words>
  <Application>Microsoft Office PowerPoint</Application>
  <PresentationFormat>On-screen Show (16:9)</PresentationFormat>
  <Paragraphs>209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Rounded MT Bold</vt:lpstr>
      <vt:lpstr>Artifakt Element Medium</vt:lpstr>
      <vt:lpstr>Calibri</vt:lpstr>
      <vt:lpstr>Gabriola</vt:lpstr>
      <vt:lpstr>Georgia</vt:lpstr>
      <vt:lpstr>Syne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Women Empowerment in Rural Villages</dc:title>
  <dc:subject>PptxGenJS Presentation</dc:subject>
  <dc:creator>PptxGenJS</dc:creator>
  <cp:lastModifiedBy>STUDENT</cp:lastModifiedBy>
  <cp:revision>9</cp:revision>
  <dcterms:created xsi:type="dcterms:W3CDTF">2026-03-08T05:22:08Z</dcterms:created>
  <dcterms:modified xsi:type="dcterms:W3CDTF">2026-03-08T01:46:28Z</dcterms:modified>
</cp:coreProperties>
</file>